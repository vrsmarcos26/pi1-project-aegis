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embeddedFontLst>
    <p:embeddedFont>
      <p:font typeface="Inter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  <p:embeddedFont>
      <p:font typeface="Rajdhani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7F"/>
    <a:srgbClr val="300A30"/>
    <a:srgbClr val="E6E6E6"/>
    <a:srgbClr val="55357F"/>
    <a:srgbClr val="94A3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jpeg"/><Relationship Id="rId3" Type="http://schemas.openxmlformats.org/officeDocument/2006/relationships/image" Target="../media/image3.png"/><Relationship Id="rId21" Type="http://schemas.openxmlformats.org/officeDocument/2006/relationships/image" Target="../media/image21.jpe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2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3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jpe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jpeg"/><Relationship Id="rId3" Type="http://schemas.openxmlformats.org/officeDocument/2006/relationships/image" Target="../media/image3.pn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0" y="108406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581025" y="2398514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B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PROJETO INTEGRADOR 1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05276" y="2859434"/>
            <a:ext cx="1158144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PROJE</a:t>
            </a:r>
            <a:r>
              <a:rPr lang="en-US" sz="6000" b="1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TO</a:t>
            </a:r>
            <a:r>
              <a:rPr lang="en-US" sz="6000" b="1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 AEGIS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4021484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Plataforma de Inteligência de Ameaças Cibernéticas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81025" y="4768155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Grupo de Pesquisa em Ciência da Computação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81025" y="5213895"/>
            <a:ext cx="1102995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Felipe Barcelos (22350044) • Marcos Vinicius (22352865) • João Marcelo (22350653)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Eduardo Araújo (22353207) • Davi Maia (22305561)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18952" y="1524000"/>
            <a:ext cx="2095648" cy="228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05101" y="1524000"/>
            <a:ext cx="2095648" cy="228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91250" y="1524000"/>
            <a:ext cx="2095648" cy="228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77398" y="1524000"/>
            <a:ext cx="2095648" cy="228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48101" y="4004220"/>
            <a:ext cx="2095648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85702" y="1724025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71851" y="1724025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858000" y="1724025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144148" y="1724025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714851" y="420424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71525" y="500576"/>
            <a:ext cx="2149849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NOSSO TIME</a:t>
            </a:r>
            <a:endParaRPr dirty="0"/>
          </a:p>
        </p:txBody>
      </p:sp>
      <p:sp>
        <p:nvSpPr>
          <p:cNvPr id="107" name="Google Shape;107;p14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996618" y="2628900"/>
            <a:ext cx="134016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MARCOS VINÍCIUS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2014239" y="2895600"/>
            <a:ext cx="13049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00B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LÍDER &amp; ARQUITETO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1818979" y="3261420"/>
            <a:ext cx="1695598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Gestão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do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escopo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Arquitetura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Serverless e ETL.</a:t>
            </a:r>
            <a:endParaRPr dirty="0"/>
          </a:p>
        </p:txBody>
      </p:sp>
      <p:sp>
        <p:nvSpPr>
          <p:cNvPr id="111" name="Google Shape;111;p14"/>
          <p:cNvSpPr txBox="1"/>
          <p:nvPr/>
        </p:nvSpPr>
        <p:spPr>
          <a:xfrm>
            <a:off x="4377779" y="2628900"/>
            <a:ext cx="115014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JOÃO MARCELO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4586138" y="2895600"/>
            <a:ext cx="733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00B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QA &amp; DOCS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047172" y="3298604"/>
            <a:ext cx="181135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Garantia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qualidade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(testes) e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documentação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técnica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principal.</a:t>
            </a:r>
            <a:endParaRPr dirty="0"/>
          </a:p>
        </p:txBody>
      </p:sp>
      <p:sp>
        <p:nvSpPr>
          <p:cNvPr id="114" name="Google Shape;114;p14"/>
          <p:cNvSpPr txBox="1"/>
          <p:nvPr/>
        </p:nvSpPr>
        <p:spPr>
          <a:xfrm>
            <a:off x="6848951" y="2628900"/>
            <a:ext cx="7800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DAVI MAIA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829425" y="2895600"/>
            <a:ext cx="8191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00B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QA &amp; DADOS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391200" y="3269010"/>
            <a:ext cx="1695598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Validação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funcionalidades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suporte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na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análise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dados.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875067" y="2628900"/>
            <a:ext cx="130016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FELIPE BARCELOS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9053661" y="2895600"/>
            <a:ext cx="9429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00B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IA DEVELOPER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8677423" y="3298604"/>
            <a:ext cx="1695598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Integração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modelos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IA para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análise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preditiva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20" name="Google Shape;120;p14"/>
          <p:cNvSpPr txBox="1"/>
          <p:nvPr/>
        </p:nvSpPr>
        <p:spPr>
          <a:xfrm>
            <a:off x="5475773" y="5109120"/>
            <a:ext cx="124015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EDUARDO UCHOA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5624363" y="5375820"/>
            <a:ext cx="9429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00B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BACKEND DEV</a:t>
            </a:r>
            <a:endParaRPr dirty="0"/>
          </a:p>
        </p:txBody>
      </p:sp>
      <p:sp>
        <p:nvSpPr>
          <p:cNvPr id="122" name="Google Shape;122;p14"/>
          <p:cNvSpPr txBox="1"/>
          <p:nvPr/>
        </p:nvSpPr>
        <p:spPr>
          <a:xfrm>
            <a:off x="5248051" y="5663505"/>
            <a:ext cx="1695598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Infraestrutura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servidor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9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rotas</a:t>
            </a:r>
            <a:r>
              <a:rPr lang="en-US" sz="9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API e performance.</a:t>
            </a:r>
            <a:endParaRPr dirty="0"/>
          </a:p>
        </p:txBody>
      </p:sp>
      <p:pic>
        <p:nvPicPr>
          <p:cNvPr id="123" name="Google Shape;123;p14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04752" y="1743075"/>
            <a:ext cx="72390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4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590901" y="1743075"/>
            <a:ext cx="72390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4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877050" y="1743075"/>
            <a:ext cx="72390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4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163198" y="1743075"/>
            <a:ext cx="72390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4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733901" y="4223295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1F68B3E9-14E1-B729-4724-1700942AF88F}"/>
              </a:ext>
            </a:extLst>
          </p:cNvPr>
          <p:cNvSpPr txBox="1"/>
          <p:nvPr/>
        </p:nvSpPr>
        <p:spPr>
          <a:xfrm>
            <a:off x="8207188" y="509885"/>
            <a:ext cx="36251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cap="none" dirty="0">
                <a:solidFill>
                  <a:srgbClr val="94A3B8"/>
                </a:solidFill>
                <a:latin typeface="Rajdhani"/>
                <a:ea typeface="Rajdhani"/>
                <a:cs typeface="Rajdhani"/>
                <a:sym typeface="Rajdhani"/>
              </a:rPr>
              <a:t>ESPECIALISTAS EM CADA CAMADA DA SOLUÇÃO</a:t>
            </a:r>
            <a:endParaRPr lang="pt-BR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980E4BF-7011-0CB0-4E49-EAFCDB00B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3198" y="1724025"/>
            <a:ext cx="762000" cy="762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AEA845F3-5241-27A5-A73E-E23FE273A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8950" y="1703264"/>
            <a:ext cx="762000" cy="76319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06503379-2D53-7C81-AA6A-28909B4CC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3901" y="4209008"/>
            <a:ext cx="762000" cy="762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CCA1FCB-7977-A99A-431C-86612D050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0426" y="1737345"/>
            <a:ext cx="723900" cy="7239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 descr="Foto de perfil de Marcos Vinícius">
            <a:extLst>
              <a:ext uri="{FF2B5EF4-FFF2-40B4-BE49-F238E27FC236}">
                <a16:creationId xmlns:a16="http://schemas.microsoft.com/office/drawing/2014/main" id="{DA7976B2-2EFA-3BA6-CE4C-7AE6420D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615" y="1657197"/>
            <a:ext cx="948171" cy="90026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771525" y="485775"/>
            <a:ext cx="113814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O DESAFIO: FRAGMENTAÇÃO DE DADOS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581025" y="2587972"/>
            <a:ext cx="52768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Cenário Descentralizado: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Informações críticas (CVEs, Vazamentos) estão espalhadas em dezenas de sites diferentes, dificultando a visão unificada.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581025" y="3648967"/>
            <a:ext cx="52768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Ineficiência Operacional: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Profissionais perdem horas coletando dados manualmente ao invés de agir na defesa.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581025" y="4435673"/>
            <a:ext cx="52768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43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Barreira Técnica: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complexidade da terminologia afasta gestores e público leigo da tomada de decisão.</a:t>
            </a:r>
            <a:endParaRPr/>
          </a:p>
        </p:txBody>
      </p:sp>
      <p:pic>
        <p:nvPicPr>
          <p:cNvPr id="140" name="Google Shape;14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63083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69183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478535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igital fragmentation concept">
            <a:extLst>
              <a:ext uri="{FF2B5EF4-FFF2-40B4-BE49-F238E27FC236}">
                <a16:creationId xmlns:a16="http://schemas.microsoft.com/office/drawing/2014/main" id="{A81A09E8-F043-45EA-9014-430159E9F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8459" y="1663004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605111"/>
            <a:ext cx="2578893" cy="4447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98043" y="1605111"/>
            <a:ext cx="2578893" cy="4447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15062" y="1605111"/>
            <a:ext cx="2578893" cy="4447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32081" y="1605111"/>
            <a:ext cx="2578893" cy="444787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6"/>
          <p:cNvSpPr txBox="1"/>
          <p:nvPr/>
        </p:nvSpPr>
        <p:spPr>
          <a:xfrm>
            <a:off x="771525" y="500576"/>
            <a:ext cx="331698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GLOSSÁRIO TÉCNICO</a:t>
            </a:r>
            <a:endParaRPr dirty="0"/>
          </a:p>
        </p:txBody>
      </p:sp>
      <p:sp>
        <p:nvSpPr>
          <p:cNvPr id="153" name="Google Shape;153;p16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/>
        </p:nvSpPr>
        <p:spPr>
          <a:xfrm>
            <a:off x="828675" y="2462361"/>
            <a:ext cx="218777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CVE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828675" y="3052911"/>
            <a:ext cx="2083593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Exposições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05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ulnerabilidades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omuns</a:t>
            </a:r>
            <a:endParaRPr dirty="0"/>
          </a:p>
        </p:txBody>
      </p:sp>
      <p:sp>
        <p:nvSpPr>
          <p:cNvPr id="156" name="Google Shape;156;p16"/>
          <p:cNvSpPr txBox="1"/>
          <p:nvPr/>
        </p:nvSpPr>
        <p:spPr>
          <a:xfrm>
            <a:off x="828675" y="3927127"/>
            <a:ext cx="2083593" cy="1645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 "RG" de uma falha de segurança. É a lista oficial global de defeitos conhecidos em softwares que hackers podem explorar.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3645693" y="2462361"/>
            <a:ext cx="218777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SERVERLESS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3645693" y="3052911"/>
            <a:ext cx="2083593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Computação sem Servidor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3645693" y="3713857"/>
            <a:ext cx="2083593" cy="1645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Modelo onde não pagamos por servidores ociosos. O código só roda quando necessário, garantindo custo zero de infraestrutura.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6462712" y="2462361"/>
            <a:ext cx="218777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ETL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6462711" y="2962926"/>
            <a:ext cx="2083593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xtração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05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ransformação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0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Carregamento</a:t>
            </a:r>
            <a:r>
              <a:rPr lang="en-US" sz="10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  <p:sp>
        <p:nvSpPr>
          <p:cNvPr id="162" name="Google Shape;162;p16"/>
          <p:cNvSpPr txBox="1"/>
          <p:nvPr/>
        </p:nvSpPr>
        <p:spPr>
          <a:xfrm>
            <a:off x="6462712" y="3713857"/>
            <a:ext cx="2083593" cy="1645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Processo automatizado que "varre" a internet, coleta dados brutos, limpa a sujeira e organiza tudo em nosso dashboard.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9279731" y="2462361"/>
            <a:ext cx="218777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HIBP</a:t>
            </a:r>
            <a:endParaRPr/>
          </a:p>
        </p:txBody>
      </p:sp>
      <p:sp>
        <p:nvSpPr>
          <p:cNvPr id="164" name="Google Shape;164;p16"/>
          <p:cNvSpPr txBox="1"/>
          <p:nvPr/>
        </p:nvSpPr>
        <p:spPr>
          <a:xfrm>
            <a:off x="9279731" y="3052911"/>
            <a:ext cx="2083593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Fui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Compometido</a:t>
            </a:r>
            <a:endParaRPr sz="1800" dirty="0"/>
          </a:p>
        </p:txBody>
      </p:sp>
      <p:sp>
        <p:nvSpPr>
          <p:cNvPr id="165" name="Google Shape;165;p16"/>
          <p:cNvSpPr txBox="1"/>
          <p:nvPr/>
        </p:nvSpPr>
        <p:spPr>
          <a:xfrm>
            <a:off x="9279731" y="3713857"/>
            <a:ext cx="2083593" cy="192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Serviço global que agrega dados de vazamentos confirmados. Usamos sua API para alertar sobre contas comprometidas.</a:t>
            </a:r>
            <a:endParaRPr/>
          </a:p>
        </p:txBody>
      </p:sp>
      <p:pic>
        <p:nvPicPr>
          <p:cNvPr id="166" name="Google Shape;166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28675" y="188133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645693" y="1881336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62712" y="188133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279731" y="1881336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98C296F1-ED32-F07A-13C2-B11C9D5B0FBB}"/>
              </a:ext>
            </a:extLst>
          </p:cNvPr>
          <p:cNvSpPr txBox="1"/>
          <p:nvPr/>
        </p:nvSpPr>
        <p:spPr>
          <a:xfrm>
            <a:off x="8127683" y="588763"/>
            <a:ext cx="358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cap="none" dirty="0">
                <a:solidFill>
                  <a:srgbClr val="94A3B8"/>
                </a:solidFill>
                <a:latin typeface="Rajdhani"/>
                <a:ea typeface="Rajdhani"/>
                <a:cs typeface="Rajdhani"/>
                <a:sym typeface="Rajdhani"/>
              </a:rPr>
              <a:t>CONCEITOS CHAVE PARA ENTENDER O PROJETO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174;p17" descr="image.png">
            <a:extLst>
              <a:ext uri="{FF2B5EF4-FFF2-40B4-BE49-F238E27FC236}">
                <a16:creationId xmlns:a16="http://schemas.microsoft.com/office/drawing/2014/main" id="{1F83B7AC-63DE-BBB9-6EED-B0969013B1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" y="7142"/>
            <a:ext cx="1225829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77;p17">
            <a:extLst>
              <a:ext uri="{FF2B5EF4-FFF2-40B4-BE49-F238E27FC236}">
                <a16:creationId xmlns:a16="http://schemas.microsoft.com/office/drawing/2014/main" id="{1CFF5DCC-035C-6BFF-178D-C7571EF1AA5B}"/>
              </a:ext>
            </a:extLst>
          </p:cNvPr>
          <p:cNvSpPr/>
          <p:nvPr/>
        </p:nvSpPr>
        <p:spPr>
          <a:xfrm>
            <a:off x="6095999" y="0"/>
            <a:ext cx="47625" cy="685800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298DAC5-D8BB-C5D6-916E-38BA81CF1D6C}"/>
              </a:ext>
            </a:extLst>
          </p:cNvPr>
          <p:cNvSpPr/>
          <p:nvPr/>
        </p:nvSpPr>
        <p:spPr>
          <a:xfrm>
            <a:off x="6143624" y="64008"/>
            <a:ext cx="6048376" cy="679399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highlight>
                <a:srgbClr val="FF00FF"/>
              </a:highlight>
            </a:endParaRP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975C8831-F650-14A2-2A5B-2AB28F72CE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692"/>
            <a:ext cx="12258294" cy="6793308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F9FA5570-7C00-4BE6-9CEB-F795C8C4CA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778002">
            <a:off x="6302090" y="805689"/>
            <a:ext cx="8161240" cy="449192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7" name="Google Shape;174;p17" descr="image.png">
            <a:extLst>
              <a:ext uri="{FF2B5EF4-FFF2-40B4-BE49-F238E27FC236}">
                <a16:creationId xmlns:a16="http://schemas.microsoft.com/office/drawing/2014/main" id="{A856D51B-BF97-4181-2A43-B298B3A77F9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7142"/>
            <a:ext cx="595312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75;p17" descr="image.png">
            <a:extLst>
              <a:ext uri="{FF2B5EF4-FFF2-40B4-BE49-F238E27FC236}">
                <a16:creationId xmlns:a16="http://schemas.microsoft.com/office/drawing/2014/main" id="{2A3601EC-456F-F802-6C4F-5E3DAB76773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0648" y="5431320"/>
            <a:ext cx="4334767" cy="99884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76;p17">
            <a:extLst>
              <a:ext uri="{FF2B5EF4-FFF2-40B4-BE49-F238E27FC236}">
                <a16:creationId xmlns:a16="http://schemas.microsoft.com/office/drawing/2014/main" id="{D2E9DC96-2EEF-3BC8-1F4B-2B82886EFE97}"/>
              </a:ext>
            </a:extLst>
          </p:cNvPr>
          <p:cNvSpPr txBox="1"/>
          <p:nvPr/>
        </p:nvSpPr>
        <p:spPr>
          <a:xfrm>
            <a:off x="811148" y="436649"/>
            <a:ext cx="435148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PROJECT AEGIS</a:t>
            </a:r>
            <a:endParaRPr/>
          </a:p>
        </p:txBody>
      </p:sp>
      <p:sp>
        <p:nvSpPr>
          <p:cNvPr id="20" name="Google Shape;177;p17">
            <a:extLst>
              <a:ext uri="{FF2B5EF4-FFF2-40B4-BE49-F238E27FC236}">
                <a16:creationId xmlns:a16="http://schemas.microsoft.com/office/drawing/2014/main" id="{55D690C7-FD75-643C-6155-C4E173DD324D}"/>
              </a:ext>
            </a:extLst>
          </p:cNvPr>
          <p:cNvSpPr/>
          <p:nvPr/>
        </p:nvSpPr>
        <p:spPr>
          <a:xfrm>
            <a:off x="620648" y="436649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178;p17">
            <a:extLst>
              <a:ext uri="{FF2B5EF4-FFF2-40B4-BE49-F238E27FC236}">
                <a16:creationId xmlns:a16="http://schemas.microsoft.com/office/drawing/2014/main" id="{E72882C2-020B-9852-DCCA-1D4AB044AEAF}"/>
              </a:ext>
            </a:extLst>
          </p:cNvPr>
          <p:cNvSpPr txBox="1"/>
          <p:nvPr/>
        </p:nvSpPr>
        <p:spPr>
          <a:xfrm>
            <a:off x="620648" y="1236749"/>
            <a:ext cx="4551506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BFFF"/>
                </a:solidFill>
                <a:latin typeface="Rajdhani"/>
                <a:ea typeface="Rajdhani"/>
                <a:cs typeface="Rajdhani"/>
                <a:sym typeface="Rajdhani"/>
              </a:rPr>
              <a:t>INTELIGÊNCIA CENTRALIZADA</a:t>
            </a:r>
            <a:endParaRPr/>
          </a:p>
        </p:txBody>
      </p:sp>
      <p:sp>
        <p:nvSpPr>
          <p:cNvPr id="22" name="Google Shape;179;p17">
            <a:extLst>
              <a:ext uri="{FF2B5EF4-FFF2-40B4-BE49-F238E27FC236}">
                <a16:creationId xmlns:a16="http://schemas.microsoft.com/office/drawing/2014/main" id="{87AF8278-FD7C-234C-C6B6-B0E4581579E5}"/>
              </a:ext>
            </a:extLst>
          </p:cNvPr>
          <p:cNvSpPr txBox="1"/>
          <p:nvPr/>
        </p:nvSpPr>
        <p:spPr>
          <a:xfrm>
            <a:off x="620648" y="1817774"/>
            <a:ext cx="4334767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Uma plataforma unificada que democratiza a segurança cibernética através de automação.</a:t>
            </a:r>
            <a:endParaRPr/>
          </a:p>
        </p:txBody>
      </p:sp>
      <p:sp>
        <p:nvSpPr>
          <p:cNvPr id="23" name="Google Shape;181;p17">
            <a:extLst>
              <a:ext uri="{FF2B5EF4-FFF2-40B4-BE49-F238E27FC236}">
                <a16:creationId xmlns:a16="http://schemas.microsoft.com/office/drawing/2014/main" id="{7F921BFE-D1B2-5F23-54BD-BACB91199295}"/>
              </a:ext>
            </a:extLst>
          </p:cNvPr>
          <p:cNvSpPr txBox="1"/>
          <p:nvPr/>
        </p:nvSpPr>
        <p:spPr>
          <a:xfrm>
            <a:off x="715898" y="2822601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" name="Google Shape;182;p17">
            <a:extLst>
              <a:ext uri="{FF2B5EF4-FFF2-40B4-BE49-F238E27FC236}">
                <a16:creationId xmlns:a16="http://schemas.microsoft.com/office/drawing/2014/main" id="{CE643C9C-39E5-EBA0-3547-1DBDD5405C1D}"/>
              </a:ext>
            </a:extLst>
          </p:cNvPr>
          <p:cNvSpPr txBox="1"/>
          <p:nvPr/>
        </p:nvSpPr>
        <p:spPr>
          <a:xfrm>
            <a:off x="811148" y="2823554"/>
            <a:ext cx="4144267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Painel Único: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Integração de CVEs, Vazamentos e Mapas.</a:t>
            </a:r>
            <a:endParaRPr/>
          </a:p>
        </p:txBody>
      </p:sp>
      <p:sp>
        <p:nvSpPr>
          <p:cNvPr id="25" name="Google Shape;183;p17">
            <a:extLst>
              <a:ext uri="{FF2B5EF4-FFF2-40B4-BE49-F238E27FC236}">
                <a16:creationId xmlns:a16="http://schemas.microsoft.com/office/drawing/2014/main" id="{5D16302D-7B4F-F809-4BEB-621188683C33}"/>
              </a:ext>
            </a:extLst>
          </p:cNvPr>
          <p:cNvSpPr txBox="1"/>
          <p:nvPr/>
        </p:nvSpPr>
        <p:spPr>
          <a:xfrm>
            <a:off x="715898" y="3514057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" name="Google Shape;184;p17">
            <a:extLst>
              <a:ext uri="{FF2B5EF4-FFF2-40B4-BE49-F238E27FC236}">
                <a16:creationId xmlns:a16="http://schemas.microsoft.com/office/drawing/2014/main" id="{FFCB8C80-73A8-F7B9-53D6-2ECE61369001}"/>
              </a:ext>
            </a:extLst>
          </p:cNvPr>
          <p:cNvSpPr txBox="1"/>
          <p:nvPr/>
        </p:nvSpPr>
        <p:spPr>
          <a:xfrm>
            <a:off x="811148" y="3515009"/>
            <a:ext cx="4144267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Acessibilidade: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100% Web. Sem login, sem instalação.</a:t>
            </a:r>
            <a:endParaRPr/>
          </a:p>
        </p:txBody>
      </p:sp>
      <p:sp>
        <p:nvSpPr>
          <p:cNvPr id="27" name="Google Shape;185;p17">
            <a:extLst>
              <a:ext uri="{FF2B5EF4-FFF2-40B4-BE49-F238E27FC236}">
                <a16:creationId xmlns:a16="http://schemas.microsoft.com/office/drawing/2014/main" id="{29DD8066-6432-B476-10E0-32FB44EF1FC8}"/>
              </a:ext>
            </a:extLst>
          </p:cNvPr>
          <p:cNvSpPr txBox="1"/>
          <p:nvPr/>
        </p:nvSpPr>
        <p:spPr>
          <a:xfrm>
            <a:off x="715898" y="4205512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8" name="Google Shape;186;p17">
            <a:extLst>
              <a:ext uri="{FF2B5EF4-FFF2-40B4-BE49-F238E27FC236}">
                <a16:creationId xmlns:a16="http://schemas.microsoft.com/office/drawing/2014/main" id="{2233A94F-BA8A-E347-D44D-4620C48F114F}"/>
              </a:ext>
            </a:extLst>
          </p:cNvPr>
          <p:cNvSpPr txBox="1"/>
          <p:nvPr/>
        </p:nvSpPr>
        <p:spPr>
          <a:xfrm>
            <a:off x="811148" y="4206465"/>
            <a:ext cx="4144267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Dados em Tempo Real: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Atualização automática via APIs.</a:t>
            </a:r>
            <a:endParaRPr/>
          </a:p>
        </p:txBody>
      </p:sp>
      <p:sp>
        <p:nvSpPr>
          <p:cNvPr id="29" name="Google Shape;187;p17">
            <a:extLst>
              <a:ext uri="{FF2B5EF4-FFF2-40B4-BE49-F238E27FC236}">
                <a16:creationId xmlns:a16="http://schemas.microsoft.com/office/drawing/2014/main" id="{E71FA228-CAD8-AAB3-F877-FD8214CF393A}"/>
              </a:ext>
            </a:extLst>
          </p:cNvPr>
          <p:cNvSpPr txBox="1"/>
          <p:nvPr/>
        </p:nvSpPr>
        <p:spPr>
          <a:xfrm>
            <a:off x="801623" y="5574195"/>
            <a:ext cx="4010917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 dirty="0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Nota: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A interface é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mantida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em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dois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idiomas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, mas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algumas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infosmações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são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em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inglês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para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seguir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o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padrão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global da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indústria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050" b="0" i="0" u="none" strike="noStrike" cap="none" dirty="0" err="1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Cybersec</a:t>
            </a:r>
            <a:r>
              <a:rPr lang="en-US" sz="1050" b="0" i="0" u="none" strike="noStrike" cap="none" dirty="0">
                <a:solidFill>
                  <a:srgbClr val="F1C40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pic>
        <p:nvPicPr>
          <p:cNvPr id="30" name="Google Shape;188;p17" descr="image.png">
            <a:extLst>
              <a:ext uri="{FF2B5EF4-FFF2-40B4-BE49-F238E27FC236}">
                <a16:creationId xmlns:a16="http://schemas.microsoft.com/office/drawing/2014/main" id="{C24C6289-9523-685B-1CBB-954D8EFBBEE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3523" y="5637952"/>
            <a:ext cx="1333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177;p17">
            <a:extLst>
              <a:ext uri="{FF2B5EF4-FFF2-40B4-BE49-F238E27FC236}">
                <a16:creationId xmlns:a16="http://schemas.microsoft.com/office/drawing/2014/main" id="{4588F2CA-3C62-9B75-17E2-2F404114E249}"/>
              </a:ext>
            </a:extLst>
          </p:cNvPr>
          <p:cNvSpPr/>
          <p:nvPr/>
        </p:nvSpPr>
        <p:spPr>
          <a:xfrm>
            <a:off x="5886258" y="57550"/>
            <a:ext cx="47625" cy="685800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884140"/>
            <a:ext cx="3390900" cy="188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00550" y="2826097"/>
            <a:ext cx="3390900" cy="2005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20075" y="2734716"/>
            <a:ext cx="3390900" cy="2188517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8"/>
          <p:cNvSpPr txBox="1"/>
          <p:nvPr/>
        </p:nvSpPr>
        <p:spPr>
          <a:xfrm>
            <a:off x="771525" y="500576"/>
            <a:ext cx="11381422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ARQUITETURA DE DADOS</a:t>
            </a:r>
            <a:endParaRPr dirty="0"/>
          </a:p>
        </p:txBody>
      </p:sp>
      <p:sp>
        <p:nvSpPr>
          <p:cNvPr id="198" name="Google Shape;198;p18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47875" y="308416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8"/>
          <p:cNvSpPr txBox="1"/>
          <p:nvPr/>
        </p:nvSpPr>
        <p:spPr>
          <a:xfrm>
            <a:off x="706278" y="3731865"/>
            <a:ext cx="314039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1. COLETA (INPUT)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781050" y="4046190"/>
            <a:ext cx="29908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Scripts Python consultam APIs oficiais:</a:t>
            </a:r>
            <a:endParaRPr/>
          </a:p>
        </p:txBody>
      </p:sp>
      <p:pic>
        <p:nvPicPr>
          <p:cNvPr id="202" name="Google Shape;202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114800" y="3709838"/>
            <a:ext cx="1428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810250" y="3026122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8"/>
          <p:cNvSpPr txBox="1"/>
          <p:nvPr/>
        </p:nvSpPr>
        <p:spPr>
          <a:xfrm>
            <a:off x="4525803" y="3673822"/>
            <a:ext cx="314039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2. PROCESSAMENTO</a:t>
            </a: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4600575" y="3988147"/>
            <a:ext cx="29908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GitHub Actions (Runner)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4600575" y="4334767"/>
            <a:ext cx="2990850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Limpeza, Normalização e Geração de JSONs Estáticos.</a:t>
            </a:r>
            <a:endParaRPr/>
          </a:p>
        </p:txBody>
      </p:sp>
      <p:pic>
        <p:nvPicPr>
          <p:cNvPr id="207" name="Google Shape;207;p1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934325" y="3709838"/>
            <a:ext cx="1428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8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658350" y="293474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8"/>
          <p:cNvSpPr txBox="1"/>
          <p:nvPr/>
        </p:nvSpPr>
        <p:spPr>
          <a:xfrm>
            <a:off x="8345328" y="3582441"/>
            <a:ext cx="314039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3. VISUALIZAÇÃO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8420100" y="3896766"/>
            <a:ext cx="29908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GitHub Pages</a:t>
            </a:r>
            <a:endParaRPr/>
          </a:p>
        </p:txBody>
      </p:sp>
      <p:sp>
        <p:nvSpPr>
          <p:cNvPr id="211" name="Google Shape;211;p18"/>
          <p:cNvSpPr txBox="1"/>
          <p:nvPr/>
        </p:nvSpPr>
        <p:spPr>
          <a:xfrm>
            <a:off x="8420100" y="4243387"/>
            <a:ext cx="2990850" cy="36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8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Frontend consome os JSONs e renderiza gráficos interativos.</a:t>
            </a:r>
            <a:endParaRPr/>
          </a:p>
        </p:txBody>
      </p:sp>
      <p:pic>
        <p:nvPicPr>
          <p:cNvPr id="212" name="Google Shape;212;p18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566862" y="4392810"/>
            <a:ext cx="4191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8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081212" y="4392810"/>
            <a:ext cx="4191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8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595562" y="4392810"/>
            <a:ext cx="39052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8DFA6FA-0769-820C-0AA5-4CD182ECA47B}"/>
              </a:ext>
            </a:extLst>
          </p:cNvPr>
          <p:cNvSpPr txBox="1"/>
          <p:nvPr/>
        </p:nvSpPr>
        <p:spPr>
          <a:xfrm>
            <a:off x="9132151" y="571284"/>
            <a:ext cx="2654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cap="none" dirty="0">
                <a:solidFill>
                  <a:srgbClr val="94A3B8"/>
                </a:solidFill>
                <a:latin typeface="Rajdhani"/>
                <a:ea typeface="Rajdhani"/>
                <a:cs typeface="Rajdhani"/>
                <a:sym typeface="Rajdhani"/>
              </a:rPr>
              <a:t>FLUXO AUTOMATIZADO (PIPELINE)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65040"/>
            <a:ext cx="3517850" cy="2727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7000" y="2465040"/>
            <a:ext cx="3517850" cy="2727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92975" y="2465040"/>
            <a:ext cx="3517850" cy="272787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9"/>
          <p:cNvSpPr txBox="1"/>
          <p:nvPr/>
        </p:nvSpPr>
        <p:spPr>
          <a:xfrm>
            <a:off x="771525" y="485775"/>
            <a:ext cx="113814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FUNCIONALIDADES DO MVP</a:t>
            </a:r>
            <a:endParaRPr/>
          </a:p>
        </p:txBody>
      </p:sp>
      <p:sp>
        <p:nvSpPr>
          <p:cNvPr id="224" name="Google Shape;224;p19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 txBox="1"/>
          <p:nvPr/>
        </p:nvSpPr>
        <p:spPr>
          <a:xfrm>
            <a:off x="828675" y="3322290"/>
            <a:ext cx="317367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MONITORAMENTO DE CVES</a:t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828675" y="3950940"/>
            <a:ext cx="30225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Identificação diária de novas vulnerabilidades críticas, permitindo patches rápidos.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4584650" y="3322290"/>
            <a:ext cx="317367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MAPA DE AMEAÇAS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4584650" y="3950940"/>
            <a:ext cx="30225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Geolocalização visual da origem de ataques (AbuseIPDB) para entender o cenário global.</a:t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8340625" y="3322290"/>
            <a:ext cx="317367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VERIFICADOR DE VAZAMENTOS</a:t>
            </a: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8340625" y="3950940"/>
            <a:ext cx="30225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Consulta se serviços populares sofreram violações de dados recentes.</a:t>
            </a:r>
            <a:endParaRPr/>
          </a:p>
        </p:txBody>
      </p:sp>
      <p:pic>
        <p:nvPicPr>
          <p:cNvPr id="231" name="Google Shape;23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8675" y="274126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4650" y="274126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40625" y="2741265"/>
            <a:ext cx="3810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0"/>
          <p:cNvSpPr txBox="1"/>
          <p:nvPr/>
        </p:nvSpPr>
        <p:spPr>
          <a:xfrm>
            <a:off x="771525" y="485775"/>
            <a:ext cx="113814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VIABILIDADE ECONÔMICA</a:t>
            </a:r>
            <a:endParaRPr/>
          </a:p>
        </p:txBody>
      </p:sp>
      <p:sp>
        <p:nvSpPr>
          <p:cNvPr id="240" name="Google Shape;240;p20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 txBox="1"/>
          <p:nvPr/>
        </p:nvSpPr>
        <p:spPr>
          <a:xfrm>
            <a:off x="1857375" y="3016597"/>
            <a:ext cx="27051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FF7F"/>
                </a:solidFill>
                <a:latin typeface="Rajdhani"/>
                <a:ea typeface="Rajdhani"/>
                <a:cs typeface="Rajdhani"/>
                <a:sym typeface="Rajdhani"/>
              </a:rPr>
              <a:t>R$ 0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857375" y="3873847"/>
            <a:ext cx="27051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CUSTO OPERACIONAL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1857374" y="4245322"/>
            <a:ext cx="2911849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Arquitetura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Serverless &amp; Open Source</a:t>
            </a:r>
            <a:endParaRPr dirty="0"/>
          </a:p>
        </p:txBody>
      </p:sp>
      <p:sp>
        <p:nvSpPr>
          <p:cNvPr id="244" name="Google Shape;244;p20"/>
          <p:cNvSpPr txBox="1"/>
          <p:nvPr/>
        </p:nvSpPr>
        <p:spPr>
          <a:xfrm>
            <a:off x="7600950" y="3016597"/>
            <a:ext cx="2733675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BFFF"/>
                </a:solidFill>
                <a:latin typeface="Rajdhani"/>
                <a:ea typeface="Rajdhani"/>
                <a:cs typeface="Rajdhani"/>
                <a:sym typeface="Rajdhani"/>
              </a:rPr>
              <a:t>R$ 20k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7600950" y="3873847"/>
            <a:ext cx="2733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VALOR ESTIMADO</a:t>
            </a:r>
            <a:endParaRPr dirty="0"/>
          </a:p>
        </p:txBody>
      </p:sp>
      <p:sp>
        <p:nvSpPr>
          <p:cNvPr id="246" name="Google Shape;246;p20"/>
          <p:cNvSpPr txBox="1"/>
          <p:nvPr/>
        </p:nvSpPr>
        <p:spPr>
          <a:xfrm>
            <a:off x="7600950" y="4245322"/>
            <a:ext cx="2911849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Baseado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640h de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engenharia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(PI1)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00151"/>
            <a:ext cx="527685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1"/>
          <p:cNvSpPr txBox="1"/>
          <p:nvPr/>
        </p:nvSpPr>
        <p:spPr>
          <a:xfrm>
            <a:off x="771525" y="485775"/>
            <a:ext cx="113814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SEGURANÇA E PRIVACIDADE</a:t>
            </a:r>
            <a:endParaRPr/>
          </a:p>
        </p:txBody>
      </p:sp>
      <p:sp>
        <p:nvSpPr>
          <p:cNvPr id="254" name="Google Shape;254;p21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" name="Google Shape;255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" y="2409676"/>
            <a:ext cx="12192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1"/>
          <p:cNvSpPr txBox="1"/>
          <p:nvPr/>
        </p:nvSpPr>
        <p:spPr>
          <a:xfrm>
            <a:off x="6334125" y="2397472"/>
            <a:ext cx="554069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FF7F"/>
                </a:solidFill>
                <a:latin typeface="Rajdhani"/>
                <a:ea typeface="Rajdhani"/>
                <a:cs typeface="Rajdhani"/>
                <a:sym typeface="Rajdhani"/>
              </a:rPr>
              <a:t>PRIVACY BY DESIGN</a:t>
            </a:r>
            <a:endParaRPr/>
          </a:p>
        </p:txBody>
      </p:sp>
      <p:sp>
        <p:nvSpPr>
          <p:cNvPr id="257" name="Google Shape;257;p21"/>
          <p:cNvSpPr txBox="1"/>
          <p:nvPr/>
        </p:nvSpPr>
        <p:spPr>
          <a:xfrm>
            <a:off x="6477000" y="2807047"/>
            <a:ext cx="51339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Sem Coleta de Dados Pessoais: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 sistema não exige login, eliminando riscos de vazamento de dados dos usuários (LGPD).</a:t>
            </a:r>
            <a:endParaRPr/>
          </a:p>
        </p:txBody>
      </p:sp>
      <p:sp>
        <p:nvSpPr>
          <p:cNvPr id="258" name="Google Shape;258;p21"/>
          <p:cNvSpPr/>
          <p:nvPr/>
        </p:nvSpPr>
        <p:spPr>
          <a:xfrm>
            <a:off x="6334125" y="2807047"/>
            <a:ext cx="28575" cy="82287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1"/>
          <p:cNvSpPr txBox="1"/>
          <p:nvPr/>
        </p:nvSpPr>
        <p:spPr>
          <a:xfrm>
            <a:off x="6477000" y="3820417"/>
            <a:ext cx="51339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Uso Ético: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Apenas metadados públicos são processados. Não expomos dados sensíveis de vítimas.</a:t>
            </a:r>
            <a:endParaRPr/>
          </a:p>
        </p:txBody>
      </p:sp>
      <p:sp>
        <p:nvSpPr>
          <p:cNvPr id="260" name="Google Shape;260;p21"/>
          <p:cNvSpPr/>
          <p:nvPr/>
        </p:nvSpPr>
        <p:spPr>
          <a:xfrm>
            <a:off x="6334125" y="3820417"/>
            <a:ext cx="28575" cy="54858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 txBox="1"/>
          <p:nvPr/>
        </p:nvSpPr>
        <p:spPr>
          <a:xfrm>
            <a:off x="6477000" y="4559498"/>
            <a:ext cx="51339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GitHub Secrets: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Todas as chaves de API são criptografadas e injetadas apenas em tempo de execução.</a:t>
            </a:r>
            <a:endParaRPr/>
          </a:p>
        </p:txBody>
      </p:sp>
      <p:sp>
        <p:nvSpPr>
          <p:cNvPr id="262" name="Google Shape;262;p21"/>
          <p:cNvSpPr/>
          <p:nvPr/>
        </p:nvSpPr>
        <p:spPr>
          <a:xfrm>
            <a:off x="6334125" y="4559498"/>
            <a:ext cx="28575" cy="54858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98" name="Picture 2" descr="Security Shield">
            <a:extLst>
              <a:ext uri="{FF2B5EF4-FFF2-40B4-BE49-F238E27FC236}">
                <a16:creationId xmlns:a16="http://schemas.microsoft.com/office/drawing/2014/main" id="{5DFC4F59-7EA8-E5D1-9634-4AEA09B932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20"/>
          <a:stretch>
            <a:fillRect/>
          </a:stretch>
        </p:blipFill>
        <p:spPr bwMode="auto">
          <a:xfrm>
            <a:off x="604837" y="2074743"/>
            <a:ext cx="5253038" cy="3658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362700"/>
            <a:ext cx="110299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504158"/>
            <a:ext cx="5276850" cy="18439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77175" y="1737419"/>
            <a:ext cx="2190750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2"/>
          <p:cNvSpPr txBox="1"/>
          <p:nvPr/>
        </p:nvSpPr>
        <p:spPr>
          <a:xfrm>
            <a:off x="581025" y="6515100"/>
            <a:ext cx="256222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Fontes:</a:t>
            </a:r>
            <a:r>
              <a:rPr lang="en-US" sz="9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NIST, OTX AlienVault, AbuseIPDB, HIBP.</a:t>
            </a:r>
            <a:endParaRPr/>
          </a:p>
        </p:txBody>
      </p:sp>
      <p:sp>
        <p:nvSpPr>
          <p:cNvPr id="272" name="Google Shape;272;p22"/>
          <p:cNvSpPr txBox="1"/>
          <p:nvPr/>
        </p:nvSpPr>
        <p:spPr>
          <a:xfrm>
            <a:off x="6924675" y="6515100"/>
            <a:ext cx="4686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Este material </a:t>
            </a:r>
            <a:r>
              <a:rPr lang="en-US" sz="900" b="0" i="0" u="none" strike="noStrike" cap="none" dirty="0" err="1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foi</a:t>
            </a:r>
            <a:r>
              <a:rPr lang="en-US" sz="9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00" b="0" i="0" u="none" strike="noStrike" cap="none" dirty="0" err="1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estruturado</a:t>
            </a:r>
            <a:r>
              <a:rPr lang="en-US" sz="9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com </a:t>
            </a:r>
            <a:r>
              <a:rPr lang="en-US" sz="900" b="0" i="0" u="none" strike="noStrike" cap="none" dirty="0" err="1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auxílio</a:t>
            </a:r>
            <a:r>
              <a:rPr lang="en-US" sz="9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900" b="1" i="0" u="none" strike="noStrike" cap="none" dirty="0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Gemini IA</a:t>
            </a:r>
            <a:r>
              <a:rPr lang="en-US" sz="9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 Código </a:t>
            </a:r>
            <a:r>
              <a:rPr lang="en-US" sz="900" b="0" i="0" u="none" strike="noStrike" cap="none" dirty="0" err="1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por</a:t>
            </a:r>
            <a:r>
              <a:rPr lang="en-US" sz="9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Project Aegis Team.</a:t>
            </a:r>
            <a:endParaRPr dirty="0"/>
          </a:p>
        </p:txBody>
      </p:sp>
      <p:sp>
        <p:nvSpPr>
          <p:cNvPr id="273" name="Google Shape;273;p22"/>
          <p:cNvSpPr txBox="1"/>
          <p:nvPr/>
        </p:nvSpPr>
        <p:spPr>
          <a:xfrm>
            <a:off x="581025" y="1509861"/>
            <a:ext cx="5540692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E2E8F0"/>
                </a:solidFill>
                <a:latin typeface="Rajdhani"/>
                <a:ea typeface="Rajdhani"/>
                <a:cs typeface="Rajdhani"/>
                <a:sym typeface="Rajdhani"/>
              </a:rPr>
              <a:t>OBRIGADO!</a:t>
            </a:r>
            <a:endParaRPr/>
          </a:p>
        </p:txBody>
      </p:sp>
      <p:sp>
        <p:nvSpPr>
          <p:cNvPr id="274" name="Google Shape;274;p22"/>
          <p:cNvSpPr txBox="1"/>
          <p:nvPr/>
        </p:nvSpPr>
        <p:spPr>
          <a:xfrm>
            <a:off x="581025" y="2452836"/>
            <a:ext cx="52768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Democratizando o acesso à inteligência de segurança.</a:t>
            </a:r>
            <a:endParaRPr/>
          </a:p>
        </p:txBody>
      </p:sp>
      <p:sp>
        <p:nvSpPr>
          <p:cNvPr id="275" name="Google Shape;275;p22"/>
          <p:cNvSpPr txBox="1"/>
          <p:nvPr/>
        </p:nvSpPr>
        <p:spPr>
          <a:xfrm>
            <a:off x="6334125" y="4328219"/>
            <a:ext cx="52768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7F"/>
                </a:solidFill>
                <a:latin typeface="Inter"/>
                <a:ea typeface="Inter"/>
                <a:cs typeface="Inter"/>
                <a:sym typeface="Inter"/>
              </a:rPr>
              <a:t>ACESSE O DASHBOARD</a:t>
            </a:r>
            <a:endParaRPr/>
          </a:p>
        </p:txBody>
      </p:sp>
      <p:sp>
        <p:nvSpPr>
          <p:cNvPr id="276" name="Google Shape;276;p22"/>
          <p:cNvSpPr txBox="1"/>
          <p:nvPr/>
        </p:nvSpPr>
        <p:spPr>
          <a:xfrm>
            <a:off x="6334125" y="4773959"/>
            <a:ext cx="52768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vrsmarcos26.github.io/Project-Aegis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866775" y="3751808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FF7F"/>
                </a:solidFill>
                <a:latin typeface="Rajdhani"/>
                <a:ea typeface="Rajdhani"/>
                <a:cs typeface="Rajdhani"/>
                <a:sym typeface="Rajdhani"/>
              </a:rPr>
              <a:t>PRÓXIMOS PASSOS</a:t>
            </a:r>
            <a:endParaRPr/>
          </a:p>
        </p:txBody>
      </p:sp>
      <p:sp>
        <p:nvSpPr>
          <p:cNvPr id="278" name="Google Shape;278;p22"/>
          <p:cNvSpPr txBox="1"/>
          <p:nvPr/>
        </p:nvSpPr>
        <p:spPr>
          <a:xfrm>
            <a:off x="866775" y="4380458"/>
            <a:ext cx="47434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Integração com IA Generativa para resumo automático de notícias de segurança e alertas via e-mail.</a:t>
            </a:r>
            <a:endParaRPr/>
          </a:p>
        </p:txBody>
      </p:sp>
      <p:pic>
        <p:nvPicPr>
          <p:cNvPr id="279" name="Google Shape;279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20050" y="1880294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D7E5BA45-84C0-062C-A07D-F042CA64C891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11131E"/>
              </a:clrFrom>
              <a:clrTo>
                <a:srgbClr val="11131E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51563" y="1579310"/>
            <a:ext cx="2548884" cy="2548884"/>
          </a:xfrm>
          <a:prstGeom prst="roundRect">
            <a:avLst>
              <a:gd name="adj" fmla="val 928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84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3"/>
          <p:cNvSpPr txBox="1"/>
          <p:nvPr/>
        </p:nvSpPr>
        <p:spPr>
          <a:xfrm>
            <a:off x="771525" y="485775"/>
            <a:ext cx="113814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IMAGE SOURCES</a:t>
            </a:r>
            <a:endParaRPr/>
          </a:p>
        </p:txBody>
      </p:sp>
      <p:sp>
        <p:nvSpPr>
          <p:cNvPr id="286" name="Google Shape;286;p23"/>
          <p:cNvSpPr/>
          <p:nvPr/>
        </p:nvSpPr>
        <p:spPr>
          <a:xfrm>
            <a:off x="581025" y="485775"/>
            <a:ext cx="47625" cy="514350"/>
          </a:xfrm>
          <a:prstGeom prst="rect">
            <a:avLst/>
          </a:prstGeom>
          <a:solidFill>
            <a:srgbClr val="00F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3"/>
          <p:cNvSpPr/>
          <p:nvPr/>
        </p:nvSpPr>
        <p:spPr>
          <a:xfrm>
            <a:off x="581025" y="1479500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3"/>
          <p:cNvSpPr/>
          <p:nvPr/>
        </p:nvSpPr>
        <p:spPr>
          <a:xfrm>
            <a:off x="581025" y="2264271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581025" y="3049041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581025" y="3833812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3"/>
          <p:cNvSpPr/>
          <p:nvPr/>
        </p:nvSpPr>
        <p:spPr>
          <a:xfrm>
            <a:off x="581025" y="4618583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3"/>
          <p:cNvSpPr/>
          <p:nvPr/>
        </p:nvSpPr>
        <p:spPr>
          <a:xfrm>
            <a:off x="581025" y="2254746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3"/>
          <p:cNvSpPr/>
          <p:nvPr/>
        </p:nvSpPr>
        <p:spPr>
          <a:xfrm>
            <a:off x="581025" y="2254746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581025" y="3039516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581025" y="3039516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581025" y="382428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81025" y="3824287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581025" y="4609058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581025" y="4609058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581025" y="5393828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81025" y="5393828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62892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3"/>
          <p:cNvSpPr txBox="1"/>
          <p:nvPr/>
        </p:nvSpPr>
        <p:spPr>
          <a:xfrm>
            <a:off x="1676400" y="1622375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https://images.seeklogo.com/logo-png/14/1/uniceub-logo-png_seeklogo-144986.png</a:t>
            </a:r>
            <a:endParaRPr/>
          </a:p>
        </p:txBody>
      </p:sp>
      <p:sp>
        <p:nvSpPr>
          <p:cNvPr id="304" name="Google Shape;304;p23"/>
          <p:cNvSpPr txBox="1"/>
          <p:nvPr/>
        </p:nvSpPr>
        <p:spPr>
          <a:xfrm>
            <a:off x="1676400" y="1868090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seeklogo.com</a:t>
            </a:r>
            <a:endParaRPr/>
          </a:p>
        </p:txBody>
      </p:sp>
      <p:sp>
        <p:nvSpPr>
          <p:cNvPr id="306" name="Google Shape;306;p23"/>
          <p:cNvSpPr txBox="1"/>
          <p:nvPr/>
        </p:nvSpPr>
        <p:spPr>
          <a:xfrm>
            <a:off x="1676400" y="2407146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https://static.vecteezy.com/system/resources/thumbnails/054/335/982/small/generic-profile-icons-male-female-avatar-user-team-group-vector.jpg</a:t>
            </a:r>
            <a:endParaRPr/>
          </a:p>
        </p:txBody>
      </p:sp>
      <p:sp>
        <p:nvSpPr>
          <p:cNvPr id="307" name="Google Shape;307;p23"/>
          <p:cNvSpPr txBox="1"/>
          <p:nvPr/>
        </p:nvSpPr>
        <p:spPr>
          <a:xfrm>
            <a:off x="1676400" y="2652861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www.vecteezy.com</a:t>
            </a:r>
            <a:endParaRPr/>
          </a:p>
        </p:txBody>
      </p:sp>
      <p:sp>
        <p:nvSpPr>
          <p:cNvPr id="309" name="Google Shape;309;p23"/>
          <p:cNvSpPr txBox="1"/>
          <p:nvPr/>
        </p:nvSpPr>
        <p:spPr>
          <a:xfrm>
            <a:off x="1676400" y="3191916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https://img.freepik.com/free-vector/cyber-green-neon-light-background_52683-43360.jpg</a:t>
            </a:r>
            <a:endParaRPr/>
          </a:p>
        </p:txBody>
      </p:sp>
      <p:sp>
        <p:nvSpPr>
          <p:cNvPr id="310" name="Google Shape;310;p23"/>
          <p:cNvSpPr txBox="1"/>
          <p:nvPr/>
        </p:nvSpPr>
        <p:spPr>
          <a:xfrm>
            <a:off x="1676400" y="3437632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www.freepik.com</a:t>
            </a:r>
            <a:endParaRPr/>
          </a:p>
        </p:txBody>
      </p:sp>
      <p:pic>
        <p:nvPicPr>
          <p:cNvPr id="311" name="Google Shape;311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98323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3"/>
          <p:cNvSpPr txBox="1"/>
          <p:nvPr/>
        </p:nvSpPr>
        <p:spPr>
          <a:xfrm>
            <a:off x="1676400" y="3976687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https://cdn.dribbble.com/userupload/43439112/file/original-9b2d76da668971a2fa5a1914729b4671.png?format=webp&amp;resize=400x300&amp;vertical=center</a:t>
            </a:r>
            <a:endParaRPr/>
          </a:p>
        </p:txBody>
      </p:sp>
      <p:sp>
        <p:nvSpPr>
          <p:cNvPr id="313" name="Google Shape;313;p23"/>
          <p:cNvSpPr txBox="1"/>
          <p:nvPr/>
        </p:nvSpPr>
        <p:spPr>
          <a:xfrm>
            <a:off x="1676400" y="4222402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dribbble.com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1676400" y="4761458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https://www.kofi-group.com/wp-content/uploads/2021/03/shutterstock_1609164064-scaled-1.jpg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1676400" y="5007173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www.kofi-group.com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1676400" y="5546228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https://cdn-icons-png.freepik.com/512/15013/15013203.png</a:t>
            </a:r>
            <a:endParaRPr dirty="0"/>
          </a:p>
        </p:txBody>
      </p:sp>
      <p:sp>
        <p:nvSpPr>
          <p:cNvPr id="319" name="Google Shape;319;p23"/>
          <p:cNvSpPr txBox="1"/>
          <p:nvPr/>
        </p:nvSpPr>
        <p:spPr>
          <a:xfrm>
            <a:off x="1676400" y="5791944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www.freepik.com</a:t>
            </a:r>
            <a:endParaRPr/>
          </a:p>
        </p:txBody>
      </p:sp>
      <p:pic>
        <p:nvPicPr>
          <p:cNvPr id="2" name="Google Shape;123;p14" descr="image.png">
            <a:extLst>
              <a:ext uri="{FF2B5EF4-FFF2-40B4-BE49-F238E27FC236}">
                <a16:creationId xmlns:a16="http://schemas.microsoft.com/office/drawing/2014/main" id="{13935E8B-C68F-AC61-4405-6B4A0235650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650" y="2372022"/>
            <a:ext cx="611281" cy="599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Digital fragmentation concept">
            <a:extLst>
              <a:ext uri="{FF2B5EF4-FFF2-40B4-BE49-F238E27FC236}">
                <a16:creationId xmlns:a16="http://schemas.microsoft.com/office/drawing/2014/main" id="{C8309BA6-8DBB-9B9A-485C-543591F26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9" y="3170009"/>
            <a:ext cx="706261" cy="470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curity Shield">
            <a:extLst>
              <a:ext uri="{FF2B5EF4-FFF2-40B4-BE49-F238E27FC236}">
                <a16:creationId xmlns:a16="http://schemas.microsoft.com/office/drawing/2014/main" id="{C52DAC19-7288-6A46-1FDF-2CBB634FB0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20"/>
          <a:stretch>
            <a:fillRect/>
          </a:stretch>
        </p:blipFill>
        <p:spPr bwMode="auto">
          <a:xfrm>
            <a:off x="628650" y="4769785"/>
            <a:ext cx="788859" cy="5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9500BCA-D330-22AD-EBC0-1F75540E55E1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11131E"/>
              </a:clrFrom>
              <a:clrTo>
                <a:srgbClr val="11131E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4121" y="5513415"/>
            <a:ext cx="663388" cy="663388"/>
          </a:xfrm>
          <a:prstGeom prst="roundRect">
            <a:avLst>
              <a:gd name="adj" fmla="val 928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785</Words>
  <Application>Microsoft Office PowerPoint</Application>
  <PresentationFormat>Widescreen</PresentationFormat>
  <Paragraphs>100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Calibri</vt:lpstr>
      <vt:lpstr>Inter</vt:lpstr>
      <vt:lpstr>Arial</vt:lpstr>
      <vt:lpstr>Rajdhani</vt:lpstr>
      <vt:lpstr>Inter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Marcos Vinicius Rocha Silva</dc:creator>
  <cp:lastModifiedBy>Marcos Vinicius Rocha Silva</cp:lastModifiedBy>
  <cp:revision>1</cp:revision>
  <dcterms:modified xsi:type="dcterms:W3CDTF">2025-12-04T18:27:30Z</dcterms:modified>
</cp:coreProperties>
</file>